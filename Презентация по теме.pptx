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A79C2-F83E-B244-35F8-F36796371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5CAAB2-19EB-F9FF-698A-047145FCE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56C2AE-4FB6-F771-0C0D-9C84BE8D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A3B3E-FC75-97B0-0B23-4329F000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9259C1-CA9F-4BB0-5870-E78B1D746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39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48AB1-E972-9E17-A769-2AAFA940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FC1F8-8627-A954-E285-B7300207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2E6BE-8AD4-AF3D-BB8F-36A5124E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5977AD-AF90-6760-60C9-9E3EEA8B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C117BE-5A31-33E4-F23E-A5189C0C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04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D1A1D-A663-5765-CABB-180F9BBA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B1B170-5164-1D7C-8FB2-9E9D128EA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FE422-4B52-89E9-13ED-0F98302A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349C0B-0BC0-1D0E-E40E-4620B7D9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E0BE40-722B-F2FD-0F9D-A29ACC04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03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B22E8-8B2B-4963-6716-476B016A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8F7683-EC58-A04D-5703-A7F1A56B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BF1E6E-DBF0-7F67-1956-025FCCC34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D551F1-9B89-B747-ECBC-29615993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11CA8C-232D-CCC9-3AD7-01A1EB69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5E2EFA-332C-5AA3-A65F-FEB6C448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79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30236-2738-0F0D-80E9-E7BA11C46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369CC6-F823-048B-9E8A-C882DC9E6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659B9C-DB2B-7E22-6E86-4D380818E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B4FACE-B31F-96EE-E2E0-167EEA020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E4F45F-BB7A-F146-312B-4571E1454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12E068-CEF3-A58B-2E77-C5C1C4FF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6BADD19-4C30-AB92-C799-A89F6AB7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50B5F1-9436-7C6C-D231-32E46D82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95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E3CF8-5086-EE12-C154-A9D31919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0DB027-6572-6FE5-EB68-69BB7672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6C5DFF-B366-4B6B-A7EF-07E61287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FD548C-DC3F-39DF-6BAC-08706542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10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0EEB92-09EB-F20C-C91A-CB3C0444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EA367C0-6260-FEE4-DE49-0BCF042D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6C838C-B60C-AC5B-BBE9-92F59B37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0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F5DC2-E80A-D0BE-2119-D58292F4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020AD-51FD-BE41-7D5A-7A4DBAD5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A20AFD-D51F-2633-16F4-503097257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5FA750-9D27-0ED1-4699-FCD0CF2C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278EE1-911F-3ADA-D779-56F5E56D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27CFB8-5512-46AD-3784-050D74E7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42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3B36F-467F-143F-F073-979B0BD9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B792C6A-560C-2BA9-3E72-16BD24C84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DAA3E8-FAC2-B33F-8D18-E125BF081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CA69A1-EF18-71A6-39C2-A9FBC38D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3F93AF-097C-612A-A656-1A093223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1EE492-2A54-C679-228B-B4D37E9E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80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1B3C6-3421-A990-0C54-7861334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0340F0-C709-E879-0ED5-DB2393FDD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DCDA2-D6C9-AC1B-051C-10579F13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D09091-D509-705F-9C89-DF3450D4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2A60B2-27FD-D47D-0D60-4FFCCB1B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08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64872A3-115E-69A0-A877-A55048AFF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BEE10A-3E6B-7CD9-C12D-151ED031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77D33-0B37-BACD-5434-2C888FB0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338993-C73B-263B-66E1-27C3D30E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1275B-4F49-AD73-1795-CD026C94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98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1A03D-1013-94AB-5E7E-9FB269FA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6CB47F-E768-798C-D0AF-EF6A619FE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B82A07-B829-1DAB-C7EF-01CA19C67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48929-125A-4283-B7C8-C63AEC2660B9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76608F-E7BA-2A66-2992-9A6531D47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42A070-4453-FB82-99A7-30AFAEB15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2190-7F91-473F-B234-253C8CE60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79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2B81F-EA97-66CC-A269-3F0B2F35AD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Презентация по теме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D35D7F-25B1-D617-A831-C1562F358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Виды и работы с </a:t>
            </a:r>
            <a:r>
              <a:rPr lang="en-US" dirty="0"/>
              <a:t>git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3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27156-4364-F5D8-B72A-3EAEA48D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Короткая история </a:t>
            </a:r>
            <a:r>
              <a:rPr lang="en-US" b="1" dirty="0"/>
              <a:t>Git </a:t>
            </a:r>
            <a:r>
              <a:rPr lang="ru-RU" b="1" dirty="0"/>
              <a:t>и его создателя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C44E39-3003-D4A6-1DC9-B34B36DC7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err="1">
                <a:latin typeface="+mj-lt"/>
              </a:rPr>
              <a:t>Git</a:t>
            </a:r>
            <a:r>
              <a:rPr lang="ru-RU" sz="2000" dirty="0">
                <a:latin typeface="+mj-lt"/>
              </a:rPr>
              <a:t> был создан </a:t>
            </a:r>
            <a:r>
              <a:rPr lang="ru-RU" sz="2000" b="1" dirty="0">
                <a:latin typeface="+mj-lt"/>
              </a:rPr>
              <a:t>Линусом Торвальдсом</a:t>
            </a:r>
            <a:r>
              <a:rPr lang="ru-RU" sz="2000" dirty="0">
                <a:latin typeface="+mj-lt"/>
              </a:rPr>
              <a:t> в </a:t>
            </a:r>
            <a:r>
              <a:rPr lang="ru-RU" sz="2000" b="1" dirty="0">
                <a:latin typeface="+mj-lt"/>
              </a:rPr>
              <a:t>2005 году</a:t>
            </a:r>
            <a:r>
              <a:rPr lang="ru-RU" sz="2000" dirty="0">
                <a:latin typeface="+mj-lt"/>
              </a:rPr>
              <a:t> для управления разработкой ядра операционной системы Linux. Это распределённая система контроля версий, которая стала стандартом в разработке программного обеспечения. </a:t>
            </a:r>
          </a:p>
          <a:p>
            <a:r>
              <a:rPr lang="ru-RU" sz="1900" b="1" dirty="0">
                <a:latin typeface="+mj-lt"/>
              </a:rPr>
              <a:t>Начало разработки</a:t>
            </a:r>
            <a:r>
              <a:rPr lang="ru-RU" sz="1900" dirty="0">
                <a:latin typeface="+mj-lt"/>
              </a:rPr>
              <a:t> — 3 апреля 2005 года. Торвальдс анонсировал проект 6 апреля, а на следующий день стал самостоятельно его </a:t>
            </a:r>
            <a:r>
              <a:rPr lang="ru-RU" sz="1900" dirty="0" err="1">
                <a:latin typeface="+mj-lt"/>
              </a:rPr>
              <a:t>хостить</a:t>
            </a:r>
            <a:r>
              <a:rPr lang="ru-RU" sz="1900" dirty="0">
                <a:latin typeface="+mj-lt"/>
              </a:rPr>
              <a:t>. Первая версия была выпущена 7 апреля. </a:t>
            </a:r>
          </a:p>
          <a:p>
            <a:r>
              <a:rPr lang="ru-RU" sz="1900" b="1" dirty="0">
                <a:latin typeface="+mj-lt"/>
              </a:rPr>
              <a:t>Причина создания</a:t>
            </a:r>
            <a:r>
              <a:rPr lang="ru-RU" sz="1900" dirty="0">
                <a:latin typeface="+mj-lt"/>
              </a:rPr>
              <a:t> — недовольство сообщества разработчиков ядра Linux существующей системой контроля версий </a:t>
            </a:r>
            <a:r>
              <a:rPr lang="ru-RU" sz="1900" dirty="0" err="1">
                <a:latin typeface="+mj-lt"/>
              </a:rPr>
              <a:t>BitKeeper</a:t>
            </a:r>
            <a:r>
              <a:rPr lang="ru-RU" sz="1900" dirty="0">
                <a:latin typeface="+mj-lt"/>
              </a:rPr>
              <a:t>, которая использовалась с 2002 года. В 2005 году компания </a:t>
            </a:r>
            <a:r>
              <a:rPr lang="ru-RU" sz="1900" dirty="0" err="1">
                <a:latin typeface="+mj-lt"/>
              </a:rPr>
              <a:t>BitMover</a:t>
            </a:r>
            <a:r>
              <a:rPr lang="ru-RU" sz="1900" dirty="0">
                <a:latin typeface="+mj-lt"/>
              </a:rPr>
              <a:t>, разработчик </a:t>
            </a:r>
            <a:r>
              <a:rPr lang="ru-RU" sz="1900" dirty="0" err="1">
                <a:latin typeface="+mj-lt"/>
              </a:rPr>
              <a:t>BitKeeper</a:t>
            </a:r>
            <a:r>
              <a:rPr lang="ru-RU" sz="1900" dirty="0">
                <a:latin typeface="+mj-lt"/>
              </a:rPr>
              <a:t>, отозвала бесплатную лицензию для </a:t>
            </a:r>
            <a:r>
              <a:rPr lang="ru-RU" sz="1900" dirty="0" err="1">
                <a:latin typeface="+mj-lt"/>
              </a:rPr>
              <a:t>open</a:t>
            </a:r>
            <a:r>
              <a:rPr lang="ru-RU" sz="1900" dirty="0">
                <a:latin typeface="+mj-lt"/>
              </a:rPr>
              <a:t>-</a:t>
            </a:r>
            <a:r>
              <a:rPr lang="ru-RU" sz="1900" dirty="0" err="1">
                <a:latin typeface="+mj-lt"/>
              </a:rPr>
              <a:t>source</a:t>
            </a:r>
            <a:r>
              <a:rPr lang="ru-RU" sz="1900" dirty="0">
                <a:latin typeface="+mj-lt"/>
              </a:rPr>
              <a:t>-разработчиков, что оставило сообщество Linux без системы контроля версий. </a:t>
            </a:r>
          </a:p>
          <a:p>
            <a:endParaRPr lang="ru-RU" sz="2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9A34DA4-6335-EB6B-D5A1-6093B4A1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72" y="4590288"/>
            <a:ext cx="2243328" cy="145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33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4C5B3-1D42-0578-24FF-1DEF156E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</a:t>
            </a:r>
            <a:r>
              <a:rPr lang="en-US" b="1" dirty="0"/>
              <a:t>git</a:t>
            </a:r>
            <a:r>
              <a:rPr lang="ru-RU" b="1" dirty="0"/>
              <a:t> простыми словами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D2465E-69D4-ED80-805C-4CE1DB70C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+mj-lt"/>
              </a:rPr>
              <a:t>Гит - это так называемая система контроля версий. У нее очень много функций и возможностей. Для того, чтобы начать понимать, как это работает и зачем это нужно, начнем с самых азов.</a:t>
            </a:r>
          </a:p>
          <a:p>
            <a:r>
              <a:rPr lang="ru-RU" sz="2000" dirty="0">
                <a:latin typeface="+mj-lt"/>
              </a:rPr>
              <a:t>Если говорить человеческим языком, гит - это программа, которая позволяет многим разработчикам писать один и тот же проект, и не перебрасывать друг другу код архивами, а упорядоченно сохранять и синхронизировать все изменения, которые были внесены в проект. Упрощенно это можно представить в виде следующего рисунка.</a:t>
            </a:r>
          </a:p>
          <a:p>
            <a:endParaRPr lang="ru-RU" dirty="0"/>
          </a:p>
        </p:txBody>
      </p:sp>
      <p:pic>
        <p:nvPicPr>
          <p:cNvPr id="1026" name="Picture 2" descr="git-flow">
            <a:extLst>
              <a:ext uri="{FF2B5EF4-FFF2-40B4-BE49-F238E27FC236}">
                <a16:creationId xmlns:a16="http://schemas.microsoft.com/office/drawing/2014/main" id="{35FABB13-2DE7-F7F5-C8DB-F5C654A32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301" y="4084430"/>
            <a:ext cx="4577715" cy="158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82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634E4-7176-AD03-13EB-9BF44D5C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Основы работы с системой контроля версий </a:t>
            </a:r>
            <a:r>
              <a:rPr lang="ru-RU" sz="4000" b="1" dirty="0" err="1"/>
              <a:t>Git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C6F51E-DA57-3876-2700-48DBEDFBF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2200" dirty="0">
                <a:latin typeface="+mj-lt"/>
              </a:rPr>
              <a:t>На нашем компьютере хранится какой-то проект - папка с файлами. Мы проделываем махинации с гитом и отправляем все, что мы сделали, в удаленное хранилище. На данный момент два самых популярных ресурса - Github.co</a:t>
            </a:r>
            <a:r>
              <a:rPr lang="en-US" sz="2200" dirty="0">
                <a:latin typeface="+mj-lt"/>
              </a:rPr>
              <a:t>m</a:t>
            </a:r>
            <a:r>
              <a:rPr lang="ru-RU" sz="2200" dirty="0">
                <a:latin typeface="+mj-lt"/>
              </a:rPr>
              <a:t> и </a:t>
            </a:r>
            <a:r>
              <a:rPr lang="ru-RU" sz="2200" dirty="0" err="1">
                <a:latin typeface="+mj-lt"/>
              </a:rPr>
              <a:t>Gitla</a:t>
            </a:r>
            <a:r>
              <a:rPr lang="en-US" sz="2200" dirty="0">
                <a:latin typeface="+mj-lt"/>
              </a:rPr>
              <a:t>b.com</a:t>
            </a:r>
            <a:r>
              <a:rPr lang="ru-RU" sz="2200" dirty="0">
                <a:latin typeface="+mj-lt"/>
              </a:rPr>
              <a:t> В данной инструкции будет показана работа с </a:t>
            </a:r>
            <a:r>
              <a:rPr lang="ru-RU" sz="2200" dirty="0" err="1">
                <a:latin typeface="+mj-lt"/>
              </a:rPr>
              <a:t>Gitlab</a:t>
            </a:r>
            <a:r>
              <a:rPr lang="ru-RU" sz="2200" dirty="0">
                <a:latin typeface="+mj-lt"/>
              </a:rPr>
              <a:t>.</a:t>
            </a:r>
          </a:p>
          <a:p>
            <a:r>
              <a:rPr lang="ru-RU" sz="2200" dirty="0" err="1">
                <a:latin typeface="+mj-lt"/>
              </a:rPr>
              <a:t>Gitlab</a:t>
            </a:r>
            <a:r>
              <a:rPr lang="ru-RU" sz="2200" dirty="0">
                <a:latin typeface="+mj-lt"/>
              </a:rPr>
              <a:t> сохраняет у себя нашу папку, выделяет для нее место, у нее появляется адрес в интернете, и мы теперь можем делиться своими наработками с другими людьми.</a:t>
            </a:r>
          </a:p>
          <a:p>
            <a:r>
              <a:rPr lang="ru-RU" sz="2200" dirty="0">
                <a:latin typeface="+mj-lt"/>
              </a:rPr>
              <a:t>Другой человек (например ментор или преподаватель) получает от вас ссылку на ваш проект. С помощью того же гита он копирует себе вашу папку с </a:t>
            </a:r>
            <a:r>
              <a:rPr lang="ru-RU" sz="2200" dirty="0" err="1">
                <a:latin typeface="+mj-lt"/>
              </a:rPr>
              <a:t>Gitlab</a:t>
            </a:r>
            <a:r>
              <a:rPr lang="ru-RU" sz="2200" dirty="0">
                <a:latin typeface="+mj-lt"/>
              </a:rPr>
              <a:t> на свой компьютер.</a:t>
            </a:r>
          </a:p>
          <a:p>
            <a:r>
              <a:rPr lang="ru-RU" sz="2200" dirty="0">
                <a:latin typeface="+mj-lt"/>
              </a:rPr>
              <a:t>Другой человек вносит какие-либо изменения в ваш проект, добавляет что-то, удаляет и так далее, и отправляет новую версию вашего проекта к вам на удаленное хранилище проекта из пункта 2. Если все прошло хорошо и вы разрешили ему это делать (что может пойти не так и как запретить кому-либо что-то изменять в вашем проекте мы будем узнавать позже и постепенно), то удаленное хранилище примет его изменения, и теперь там будет храниться новая версия проекта.</a:t>
            </a:r>
          </a:p>
          <a:p>
            <a:r>
              <a:rPr lang="ru-RU" sz="2200" dirty="0">
                <a:latin typeface="+mj-lt"/>
              </a:rPr>
              <a:t>Вы хотите получить новую версию проекта, которую вам помог сделать другой человек. Обращаетесь к </a:t>
            </a:r>
            <a:r>
              <a:rPr lang="ru-RU" sz="2200" dirty="0" err="1">
                <a:latin typeface="+mj-lt"/>
              </a:rPr>
              <a:t>Gitlab</a:t>
            </a:r>
            <a:r>
              <a:rPr lang="ru-RU" sz="2200" dirty="0">
                <a:latin typeface="+mj-lt"/>
              </a:rPr>
              <a:t> и забираете себе все новые изменения, которые были внесены в пункте 4. Вуаля - изменения у вас на компьютере. Так выглядит упрощенная схема работы с гитом.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51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87D6FE8-179B-B6E3-9E22-1FB54F62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Локальный.</a:t>
            </a:r>
            <a:r>
              <a:rPr lang="ru-RU" sz="2000" dirty="0"/>
              <a:t> Полноценная копия репозитория расположена на компьютере разработчика. С ней можно работать напрямую: совершать коммиты, просматривать историю, создавать ветки и т. п..</a:t>
            </a:r>
          </a:p>
          <a:p>
            <a:r>
              <a:rPr lang="ru-RU" sz="2000" b="1" dirty="0"/>
              <a:t>Удалённый.</a:t>
            </a:r>
            <a:r>
              <a:rPr lang="ru-RU" sz="2000" dirty="0"/>
              <a:t> Версия проекта, размещённая на сервере (например, на </a:t>
            </a:r>
            <a:r>
              <a:rPr lang="ru-RU" sz="2000" dirty="0" err="1"/>
              <a:t>GitHub</a:t>
            </a:r>
            <a:r>
              <a:rPr lang="ru-RU" sz="2000" dirty="0"/>
              <a:t>, </a:t>
            </a:r>
            <a:r>
              <a:rPr lang="ru-RU" sz="2000" dirty="0" err="1"/>
              <a:t>GitLab</a:t>
            </a:r>
            <a:r>
              <a:rPr lang="ru-RU" sz="2000" dirty="0"/>
              <a:t> или внутреннем корпоративном сервере). Используется для обмена изменениями между разработчиками и для резервного копирования кода.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7666B83-3696-59D5-BA2B-0FC0E5A2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ru-RU" b="1" dirty="0"/>
              <a:t>Типы репозиториев</a:t>
            </a:r>
            <a:br>
              <a:rPr lang="ru-RU" b="1" dirty="0"/>
            </a:br>
            <a:endParaRPr lang="ru-RU" dirty="0"/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9B786362-4A2D-2706-7C7E-4058EF758A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8" descr="Picture background">
            <a:extLst>
              <a:ext uri="{FF2B5EF4-FFF2-40B4-BE49-F238E27FC236}">
                <a16:creationId xmlns:a16="http://schemas.microsoft.com/office/drawing/2014/main" id="{62337E4C-6518-71DB-1DD9-302D8671B95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221224" y="3428999"/>
            <a:ext cx="874776" cy="160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4" name="Picture 12" descr="What is Git? A Beginner's Guide to Git Version Control">
            <a:extLst>
              <a:ext uri="{FF2B5EF4-FFF2-40B4-BE49-F238E27FC236}">
                <a16:creationId xmlns:a16="http://schemas.microsoft.com/office/drawing/2014/main" id="{EB7C51E3-F442-9DA5-2E15-883512B1D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792" y="3640138"/>
            <a:ext cx="45720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33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55C9F-54C6-0200-6E51-7553A86E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команды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597476-85C4-B74C-4D10-B9215B5B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fontAlgn="ctr"/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init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инициализирует пустой репозиторий. 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clone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— клонирует существующий репозиторий на локальный компьютер. </a:t>
            </a:r>
          </a:p>
          <a:p>
            <a:pPr fontAlgn="ctr"/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add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добавляет содержимое рабочего каталога в индекс для последующего коммита.</a:t>
            </a:r>
          </a:p>
          <a:p>
            <a:pPr fontAlgn="ctr"/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commit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сохраняет изменения из индекса в репозиторий в виде коммита. 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status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показывает состояние файлов в рабочем каталоге и индексе. 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log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выводит список коммитов в обратном хронологическом порядке. 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push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отправляет локальные коммиты в удалённый репозиторий. 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pull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— подтягивает изменения из удалённого репозитория в локальный.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4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855EF-887D-6442-7E35-D534A674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FA6E6-7E78-C29C-671C-D556E2A7A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это распределённая система контроля версий (</a:t>
            </a:r>
            <a:r>
              <a:rPr lang="ru-RU" dirty="0" err="1"/>
              <a:t>Version</a:t>
            </a:r>
            <a:r>
              <a:rPr lang="ru-RU" dirty="0"/>
              <a:t> Control System, VCS), которая позволяет отслеживать изменения в файлах, хранить их версии и оперативно возвращаться в любое сохранённое состояние. Она особенно популярна среди разработчиков, но может быть полезна и в других сферах, где важно сохранять историю правок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FD4D9FF-164A-D39A-372E-F66B80AE6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704" y="4173093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6121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676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по теме </vt:lpstr>
      <vt:lpstr>Короткая история Git и его создателя</vt:lpstr>
      <vt:lpstr>Что такое git простыми словами</vt:lpstr>
      <vt:lpstr>Основы работы с системой контроля версий Git</vt:lpstr>
      <vt:lpstr>Типы репозиториев </vt:lpstr>
      <vt:lpstr>Основные команды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2026-04-30T09:17:29Z</dcterms:created>
  <dcterms:modified xsi:type="dcterms:W3CDTF">2026-04-30T10:05:18Z</dcterms:modified>
</cp:coreProperties>
</file>